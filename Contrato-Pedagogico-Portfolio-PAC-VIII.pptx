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Deixar claro que este é um contrato de mão dupla: o que a disciplina exige e o que a disciplina garante. Ao final da apresentação, pedir o aceite formal.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Enfatizar: o contrato é o resumo executivo. A fonte da verdade é o repositório do Playbook. Se houver divergência, vale 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Reforçar continuidade: quem chega ao 8º semestre já tem RFC aprovada. O projeto não recomeça.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crítico: o aluno não deve tratar as duas disciplinas como trabalhos separados. É o mesmo projeto, avaliado por dois ângulos.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item a item. Perguntar quem já tem repositório público hoje. O ambiente produtivo precisa continuar no ar até a divulgação final das notas.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basta funcionar: o código precisa ser profissional. Os três pilares são cobrados na avaliação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Squads de 3 a 5 alunos. A nota do peer review não é por quantidade de PRs, é pela pertinência dos comentários.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Alunos em modalidade comunidade (sem parceiro corporativo): combinar previamente qual evidência substitui o termo de aceite.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professores recebem antecipadamente a lista de trabalhos e os links de repositório e documentação.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Critério 5 é eliminatório, não é ponderado: plágio ou falsificação reprova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claro que 3 é 'cumpriu o combinado', não é nota baixa — dá 6,0. 4 e 5 exigem ir além do obrigatório. Os 6 critérios têm peso igual entre si. Piso da fórmula é 2,0; abaixo disso só por reprovação direta (critério 5, eliminatório).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Professores de Joinville: reservar as três datas. Confirmar o horário de início antes de divulgar aos alunos.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sem rodeios. Melhor constranger em agosto do que reprovar em dezembro. Explicar como a prova de autoria será conduzida.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coração do contrato. Ler os dois lados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que todos abram o repositório agora e favoritem.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para perguntas. Registrar em ata as dúvidas levantadas e as respostas dadas.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1828800"/>
            <a:ext cx="320040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8A33D"/>
                </a:solidFill>
                <a:latin typeface="Arial"/>
              </a:rPr>
              <a:t>CONTRATO PEDAGÓGICO · 8º SEMESTRE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6766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Disciplina de Portfólio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8A33D"/>
                </a:solidFill>
                <a:latin typeface="Arial"/>
              </a:rPr>
              <a:t>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PAC Extensionista VIII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463040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As regras do jogo, os compromissos de cada lado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e o calendário do semestre.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978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8C6D4"/>
                </a:solidFill>
                <a:latin typeface="Arial"/>
              </a:rPr>
              <a:t>Engenharia de Software · Católica SC · 2026/2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3200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A33D"/>
                </a:solidFill>
                <a:latin typeface="Arial"/>
              </a:rPr>
              <a:t>Prazo de entrega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30/11/2026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00"/>
              </a:spcAft>
            </a:pPr>
            <a:r>
              <a:rPr sz="1300" b="0" i="0">
                <a:solidFill>
                  <a:srgbClr val="B8C6D4"/>
                </a:solidFill>
                <a:latin typeface="Arial"/>
              </a:rPr>
              <a:t>segunda-feira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A33D"/>
                </a:solidFill>
                <a:latin typeface="Arial"/>
              </a:rPr>
              <a:t>Bancas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10 · 15 · 16 /12/2026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8C6D4"/>
                </a:solidFill>
                <a:latin typeface="Arial"/>
              </a:rPr>
              <a:t>quinta · terça · quarta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PONTO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O que é este contrato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Um acordo explícito. Nada do que for cobrado aqui estará fora deste documento.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3566160" cy="3200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3566160" cy="508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4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43E"/>
                </a:solidFill>
                <a:latin typeface="Arial"/>
              </a:rPr>
              <a:t>O que ele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34640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O que você precisa entregar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Quando precisa entregar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Como você será avaliado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O que reprova direto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103120"/>
            <a:ext cx="3566160" cy="3200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103120"/>
            <a:ext cx="356616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40864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43E"/>
                </a:solidFill>
                <a:latin typeface="Arial"/>
              </a:rPr>
              <a:t>O que ele garante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34640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Critérios conhecidos desde o dia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Datas fixas e divulgadas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Orientação ao longo do semestre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Avaliação por 3 professores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103120"/>
            <a:ext cx="3566160" cy="3200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2103120"/>
            <a:ext cx="3566160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340864"/>
            <a:ext cx="3090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43E"/>
                </a:solidFill>
                <a:latin typeface="Arial"/>
              </a:rPr>
              <a:t>O que ele não 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834640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Não é lista de sugestões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Não é negociável no fim do semestre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Não substitui o Playbook — é o resumo dele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5321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243E"/>
                </a:solidFill>
                <a:latin typeface="Arial"/>
              </a:rPr>
              <a:t>Documentação completa: github.com/CatolicaSC-Portfolio/The-Portfolio-Playbook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A jornada do Portfólio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Três disciplinas, dois semestres, um único projeto autoral.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423160"/>
            <a:ext cx="3529584" cy="2651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423160"/>
            <a:ext cx="3529584" cy="47548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56032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7º SEMESTRE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36392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43E"/>
                </a:solidFill>
                <a:latin typeface="Arial"/>
              </a:rPr>
              <a:t>PAC Extensionista VII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21608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Planejamento técnico do projeto (RFC), aplicado a um problema real de parceiro externo ou comunidade.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A33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423160"/>
            <a:ext cx="3529584" cy="2651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2423160"/>
            <a:ext cx="3529584" cy="475488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6032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8º SEMESTRE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136392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43E"/>
                </a:solidFill>
                <a:latin typeface="Arial"/>
              </a:rPr>
              <a:t>Disciplina de Portfólio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721608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Desenvolvimento, documentação e apresentação pública do produto funcional.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47472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A33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2423160"/>
            <a:ext cx="3529584" cy="2651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7888" y="2423160"/>
            <a:ext cx="3529584" cy="47548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256032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8º SEMESTRE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136392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43E"/>
                </a:solidFill>
                <a:latin typeface="Arial"/>
              </a:rPr>
              <a:t>PAC Extensionista VIII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721608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Garantia de qualidade por pares e validação extensionista junto ao parceiro.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303520"/>
            <a:ext cx="11064240" cy="658368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589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 projeto é individual. A qualidade é coletiva — squads de 3 a 5 alunos revisam o código uns dos outros.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Duas disciplinas, um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Portfólio e PAC VIII rodam em sincronia. Cada uma olha para uma dimensão do mesmo trabalho.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94560"/>
          <a:ext cx="1106424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4805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Disciplina de Portfólio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PAC Extensionista VIII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Foco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Execução e engenharia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Qualidade e validação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Você faz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Desenvolve, documenta, publica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Revisa código dos colegas, valida com o parceiro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Entrega principal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Produto funcional em produção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Evidências de revisão + termo de aceite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Avaliação final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Poster + Demo Day (0 a 10)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NP1 20% · NP2 20% · NP3 60%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Insumo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Consome bugs e feedback vindos do PAC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Consome MVPs vindos do Portfólio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PORTFÓLIO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Requisitos para se habilitar à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Sem estes itens o projeto não entra no Poster + Demo Day. Não há exceção.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2258568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7627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Cinco orientações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6B7A88"/>
                </a:solidFill>
                <a:latin typeface="Arial"/>
              </a:rPr>
              <a:t>Presenciais ou remotas, com evidência sua (ata por e-mail, foto, registro). Duas delas até 30/09/2026.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919984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8376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Repositório público no GitHub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6B7A88"/>
                </a:solidFill>
                <a:latin typeface="Arial"/>
              </a:rPr>
              <a:t>Com histórico de commits que mostre evolução real ao longo do semestre.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581400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49910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Aplicação em ambiente produtivo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6B7A88"/>
                </a:solidFill>
                <a:latin typeface="Arial"/>
              </a:rPr>
              <a:t>Hospedada na nuvem, pública e estável — não pode depender do seu notebook.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4242816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1605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Pôster digital em PDF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6B7A88"/>
                </a:solidFill>
                <a:latin typeface="Arial"/>
              </a:rPr>
              <a:t>Formato A0 vertical, com QR Code funcional de acesso à aplicação.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904232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8219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Documentação técnica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6B7A88"/>
                </a:solidFill>
                <a:latin typeface="Arial"/>
              </a:rPr>
              <a:t>Arquitetura, requisitos e registro das decisões técnicas.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5565648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48335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Critérios obrigatórios da sua linha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6B7A88"/>
                </a:solidFill>
                <a:latin typeface="Arial"/>
              </a:rPr>
              <a:t>Web, Mobile, Jogos, IA ou IoT — conforme o Portfolio Directions.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PORTFÓLIO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Os três pilares da disciplina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19072"/>
            <a:ext cx="3529584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19072"/>
            <a:ext cx="3529584" cy="508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56816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243E"/>
                </a:solidFill>
                <a:latin typeface="Arial"/>
              </a:rPr>
              <a:t>1 · Execução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0592"/>
            <a:ext cx="305409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Implementar a arquitetura definida na RFC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Commits frequentes, revisados por pares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Entregas modulares (MVPs) que alimentam o PAC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Documentação que permita contribuição externa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719072"/>
            <a:ext cx="3529584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719072"/>
            <a:ext cx="3529584" cy="508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56816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243E"/>
                </a:solidFill>
                <a:latin typeface="Arial"/>
              </a:rPr>
              <a:t>2 · Engenharia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50592"/>
            <a:ext cx="305409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SOLID, Design Patterns, Clean Architecture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Refatorar a partir dos code reviews recebidos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Corrigir bugs reportados pelos colegas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Atender melhorias pedidas pelo parceiro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7888" y="1719072"/>
            <a:ext cx="3529584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1719072"/>
            <a:ext cx="3529584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956816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243E"/>
                </a:solidFill>
                <a:latin typeface="Arial"/>
              </a:rPr>
              <a:t>3 ·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450592"/>
            <a:ext cx="305409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Pipeline de CI/CD configurado e funcionando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Ambientes separados: desenvolvimento e produção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Deploy acessível — nuvem, loja ou dispositivo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Estratégia de observabilidade definida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PAC EXTENSIONISTA VIII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Qualidade por pares e validação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O que você entrega aqui não é código — é evidência de que o código foi checado e o produto foi validado.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21408"/>
            <a:ext cx="3529584" cy="3383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21408"/>
            <a:ext cx="3529584" cy="508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59152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43E"/>
                </a:solidFill>
                <a:latin typeface="Arial"/>
              </a:rPr>
              <a:t>Integração com o Portfólio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52928"/>
            <a:ext cx="30540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Planejamento das iterações de entrega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Documentação dos testes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Gestão do ciclo de vida do projeto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121408"/>
            <a:ext cx="3529584" cy="3383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2121408"/>
            <a:ext cx="3529584" cy="508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359152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43E"/>
                </a:solidFill>
                <a:latin typeface="Arial"/>
              </a:rPr>
              <a:t>Validação por pares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852928"/>
            <a:ext cx="30540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Code review obrigatório via Pull Request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Testes cruzados: você é QA do colega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Nota vem da qualidade dos comentários e das issues abertas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2121408"/>
            <a:ext cx="3529584" cy="3383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2121408"/>
            <a:ext cx="3529584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359152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43E"/>
                </a:solidFill>
                <a:latin typeface="Arial"/>
              </a:rPr>
              <a:t>Validação extensionista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852928"/>
            <a:ext cx="30540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Demos das funcionalidades para o parceiro real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Registro formal do feedback recebido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•  Feedback vira task de desenvolvimento no Portfólio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PAC EXTENSIONISTA VIII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Como você é avaliado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92224"/>
          <a:ext cx="1106424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347472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Pares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Extensão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NP1 — Ciclo de qualidade inicial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Evidências de code review e testes cruzados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Relatório de validação do 1º MVP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NP2 — Evolução e refinamento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Bugs reportados pelos colegas foram corrigidos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Demonstração das melhorias ao parceiro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NP3 — Entrega final integrada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Software funcional em versão release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Termo de aceite + apresentação no Demo Day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809744"/>
            <a:ext cx="11064240" cy="7132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809744"/>
            <a:ext cx="50800" cy="71323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7433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0243E"/>
                </a:solidFill>
                <a:latin typeface="Arial"/>
              </a:rPr>
              <a:t>Entregáveis do semestre:  links de PRs e issues  ·  relatórios de feedback do parceiro  ·  termo de aceite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PORTFÓLIO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Como a nota final é composta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Poster + Demo Day. Quatro notas, uma média ponderada.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5394960" cy="2286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E8A33D"/>
                </a:solidFill>
                <a:latin typeface="Arial"/>
              </a:rPr>
              <a:t>90%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Três professores avaliadores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5D0DA"/>
                </a:solidFill>
                <a:latin typeface="Arial"/>
              </a:rPr>
              <a:t>Formulário com escala Likert por critério, mais comentários qualitativos.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2240280"/>
            <a:ext cx="5394960" cy="2286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10%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Comunidade acadêmica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FEEF1"/>
                </a:solidFill>
                <a:latin typeface="Arial"/>
              </a:rPr>
              <a:t>Média de todas as notas atribuídas pelo público durante o Demo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006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0243E"/>
                </a:solidFill>
                <a:latin typeface="Arial"/>
              </a:rPr>
              <a:t>Nota final: 0 a 10, média ponderada das quatro notas.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A comunidade acadêmica ainda pode atribuir menções especiais — por exemplo, “Trabalho Escolhido pela Comunidade”. Projetos de destaque em inovação, qualidade técnica e impacto são convidados para a Banca Técnica Especial.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POSTER + DEMO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Os seis critérios de avaliação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Cada critério é pontuado em escala Likert de 1 a 5 pelos três professores.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5394960" cy="1005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76272"/>
            <a:ext cx="50800" cy="10058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31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1 · Relevância e complexidade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Problema real, escopo claro, originalidade — nada de reproduzir tutorial.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176272"/>
            <a:ext cx="5394960" cy="1005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2176272"/>
            <a:ext cx="50800" cy="10058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331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2 · Documentação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Repositório completo, decisões técnicas registradas, material legível.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346704"/>
            <a:ext cx="5394960" cy="1005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346704"/>
            <a:ext cx="50800" cy="10058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502152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3 · Qualidade técnica do código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Modularização, boas práticas, testes automatizados, histórico de commits.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3346704"/>
            <a:ext cx="5394960" cy="1005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346704"/>
            <a:ext cx="50800" cy="10058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02152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4 · Infraestrutura e engenharia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Versionamento, CI/CD, monitoramento, segurança, práticas DevOps.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517136"/>
            <a:ext cx="5394960" cy="1005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517136"/>
            <a:ext cx="5080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672584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5 · Ética, integridade e autoria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Autoria genuína e uso ético de dados. Violação aqui é reprovação imediata.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4517136"/>
            <a:ext cx="5394960" cy="1005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4517136"/>
            <a:ext cx="50800" cy="10058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672584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6 · Apresentação no evento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Clareza da narrativa, demo funcional, domínio técnico, pôster autoexplicativo.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POSTER + DEMO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A escala de avaliação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Referência usada pelos professores em cada um dos seis critérios.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9456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75895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Nível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Rótulo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 que significa na prática</a:t>
                      </a:r>
                    </a:p>
                  </a:txBody>
                  <a:tcPr marL="128016" marR="128016" marT="45720" marB="45720" anchor="ctr">
                    <a:solidFill>
                      <a:srgbClr val="1024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Insuficiente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Não atende aos critérios mínimos; falhas conceituais ou técnicas.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Básico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Atende parcialmente; lacunas significativas na execução ou fundamentação.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Adequado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Cumpre o esperado de forma satisfatória, com coerência e funcionalidade.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Avançado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Supera expectativas em alguns aspectos; domínio técnico e clareza conceitual.</a:t>
                      </a:r>
                    </a:p>
                  </a:txBody>
                  <a:tcPr marL="128016" marR="128016" marT="45720" marB="45720" anchor="ctr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Excelência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Maturidade técnica e conceitual, originalidade, teoria e prática integradas.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413248"/>
            <a:ext cx="11064240" cy="932688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5955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E8A33D"/>
                </a:solidFill>
                <a:latin typeface="Arial"/>
              </a:rPr>
              <a:t>COMO A LIKERT VIRA NOTA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Nota de cada professor = média dos 6 critérios × 2      ·      Nota final = (professores × 0,9) + (comunidade × 0,1)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5D0DA"/>
                </a:solidFill>
                <a:latin typeface="Arial"/>
              </a:rPr>
              <a:t>Exemplo: critérios 4, 3, 4, 3, 5, 4  →  média 3,83  →  nota 7,7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A33D"/>
                </a:solidFill>
                <a:latin typeface="Arial"/>
              </a:rPr>
              <a:t>CALENDÁRIO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As datas que não mudam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92224"/>
            <a:ext cx="5029200" cy="356616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5029200" cy="63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57984"/>
            <a:ext cx="4389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Arial"/>
              </a:rPr>
              <a:t>PRAZO FINAL DE ENTREGA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30/11/2026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5D0DA"/>
                </a:solidFill>
                <a:latin typeface="Arial"/>
              </a:rPr>
              <a:t>segunda-feira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Trabalho entregue e aprovado na prova de autoria.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Arial"/>
              </a:rPr>
              <a:t>SEGUNDA TENTATIVA DA PROVA DE AUTORIA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5D0DA"/>
                </a:solidFill>
                <a:latin typeface="Arial"/>
              </a:rPr>
              <a:t>03/12/2026 · quinta-feira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Reprovando de novo: não apresenta e reprova na disciplina.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792224"/>
            <a:ext cx="5760720" cy="356616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70448" y="1792224"/>
            <a:ext cx="5760720" cy="635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15798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A33D"/>
                </a:solidFill>
                <a:latin typeface="Arial"/>
              </a:rPr>
              <a:t>BANCAS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33472"/>
            <a:ext cx="82296" cy="457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10/12/2026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5D0DA"/>
                </a:solidFill>
                <a:latin typeface="Arial"/>
              </a:rPr>
              <a:t>quinta-feira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91840"/>
            <a:ext cx="82296" cy="457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101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15/12/2026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5D0DA"/>
                </a:solidFill>
                <a:latin typeface="Arial"/>
              </a:rPr>
              <a:t>terça-feira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50208"/>
            <a:ext cx="82296" cy="457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16/12/2026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5D0DA"/>
                </a:solidFill>
                <a:latin typeface="Arial"/>
              </a:rPr>
              <a:t>quarta-feira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634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5D0DA"/>
                </a:solidFill>
                <a:latin typeface="Arial"/>
              </a:rPr>
              <a:t>O evento abre 30 minutos antes do horário de início, para que os professores possam conversar com os alunos com tranquilidade.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522976"/>
            <a:ext cx="11064240" cy="566928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60135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Haverá registro de presença dos alunos que participarem das bancas — essas horas contam como aula regular.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LINHA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O que reprova direto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Estes itens não entram na média. Ocorreu, reprovou.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539496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40280"/>
            <a:ext cx="6350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1401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Plágio de código, design ou texto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26664"/>
            <a:ext cx="539496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026664"/>
            <a:ext cx="6350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00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Falsificação de resultados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13048"/>
            <a:ext cx="539496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13048"/>
            <a:ext cx="6350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9867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Uso indevido de dados sensíveis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99432"/>
            <a:ext cx="539496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599432"/>
            <a:ext cx="6350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7731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Projeto inacessível — link quebrado ou fora do 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240280"/>
            <a:ext cx="539496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2240280"/>
            <a:ext cx="6350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41401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Interface inoperante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3026664"/>
            <a:ext cx="539496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3026664"/>
            <a:ext cx="6350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200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Violação de segurança básica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3813048"/>
            <a:ext cx="539496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3813048"/>
            <a:ext cx="6350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867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Ausência da documentação mínima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4599432"/>
            <a:ext cx="539496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4599432"/>
            <a:ext cx="6350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7731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Plataformas no-code no lugar de desenvolvimento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486400"/>
            <a:ext cx="1106424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41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Autoria é condição de existência do trabalho. A prova de autoria admite uma segunda tentativa; reprovar duas vezes reprova na disciplina.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O ACORDO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Compromissos de cada lado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46504"/>
            <a:ext cx="5394960" cy="3657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46504"/>
            <a:ext cx="5394960" cy="566928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Você se compromete 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24328"/>
            <a:ext cx="100584" cy="100584"/>
          </a:xfrm>
          <a:prstGeom prst="ellipse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420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Commitar com frequência, no seu repositório público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031236"/>
            <a:ext cx="100584" cy="100584"/>
          </a:xfrm>
          <a:prstGeom prst="ellipse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489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Participar das cinco orientações e evidenciá-las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438144"/>
            <a:ext cx="100584" cy="100584"/>
          </a:xfrm>
          <a:prstGeom prst="ellipse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3558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Revisar o código dos colegas do seu squad com seriedade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845052"/>
            <a:ext cx="100584" cy="100584"/>
          </a:xfrm>
          <a:prstGeom prst="ellipse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7627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Manter a aplicação no ar até a divulgação das notas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251960"/>
            <a:ext cx="100584" cy="100584"/>
          </a:xfrm>
          <a:prstGeom prst="ellipse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1696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Buscar e registrar o feedback do parceiro externo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658868"/>
            <a:ext cx="100584" cy="100584"/>
          </a:xfrm>
          <a:prstGeom prst="ellipse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5765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Entregar até 30/11/2026 e passar na prova de autoria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1746504"/>
            <a:ext cx="5394960" cy="3657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46504"/>
            <a:ext cx="5394960" cy="56692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8928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 disciplina se compromete a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624328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5420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Manter critérios públicos e estáveis durante o semestre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031236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29489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Oferecer as cinco orientações e responder em tempo hábil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3438144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3558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Divulgar datas com antecedência e não alterá-las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3845052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7627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Garantir avaliação por três professores, com feedback escrito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251960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41696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Registrar presença nas bancas como aula regular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4658868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5765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Dar visibilidade pública aos melhores trabalhos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14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065776"/>
            <a:ext cx="100584" cy="100584"/>
          </a:xfrm>
          <a:prstGeom prst="ellipse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983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Visitar uma noite do evento e avaliar os trabalhos dos colegas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5065776"/>
            <a:ext cx="100584" cy="100584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983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Aplicar a segunda tentativa da prova de autoria até 03/12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7A8C"/>
                </a:solidFill>
                <a:latin typeface="Arial"/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43E"/>
                </a:solidFill>
                <a:latin typeface="Arial"/>
              </a:rPr>
              <a:t>Onde está tudo documentado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8"/>
                </a:solidFill>
                <a:latin typeface="Arial"/>
              </a:rPr>
              <a:t>Tudo o que foi apresentado aqui está detalhado no repositório do Playbook.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94560"/>
            <a:ext cx="5394960" cy="9509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94560"/>
            <a:ext cx="50800" cy="95097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Disciplina de Portfólio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Portfolio.md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7A88"/>
                </a:solidFill>
                <a:latin typeface="Arial"/>
              </a:rPr>
              <a:t>Requisitos, pilares, avaliação e calendário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194560"/>
            <a:ext cx="5394960" cy="9509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2194560"/>
            <a:ext cx="50800" cy="95097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22576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PAC Extensionista VIII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PAC Extensionista VIII.md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7A88"/>
                </a:solidFill>
                <a:latin typeface="Arial"/>
              </a:rPr>
              <a:t>Peer review, validação extensionista e NPs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310128"/>
            <a:ext cx="5394960" cy="9509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310128"/>
            <a:ext cx="50800" cy="95097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38144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Portfolio Directions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directions/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7A88"/>
                </a:solidFill>
                <a:latin typeface="Arial"/>
              </a:rPr>
              <a:t>Critérios obrigatórios de cada linha de projeto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3310128"/>
            <a:ext cx="5394960" cy="9509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310128"/>
            <a:ext cx="50800" cy="95097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Avaliação do Demo Day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demoday/Avaliacao_Poster_DemoDay.md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7A88"/>
                </a:solidFill>
                <a:latin typeface="Arial"/>
              </a:rPr>
              <a:t>Os seis critérios e a escala Likert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25696"/>
            <a:ext cx="5394960" cy="9509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25696"/>
            <a:ext cx="50800" cy="95097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5371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Guia do Pôster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demoday/guia_poster.md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7A88"/>
                </a:solidFill>
                <a:latin typeface="Arial"/>
              </a:rPr>
              <a:t>Formato A0, elementos obrigatórios e template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4425696"/>
            <a:ext cx="5394960" cy="9509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4425696"/>
            <a:ext cx="50800" cy="95097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55371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0243E"/>
                </a:solidFill>
                <a:latin typeface="Arial"/>
              </a:rPr>
              <a:t>Normas e regulamentações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documentation/normas.md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7A88"/>
                </a:solidFill>
                <a:latin typeface="Arial"/>
              </a:rPr>
              <a:t>LGPD, licenças, segurança e ética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23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0243E"/>
                </a:solidFill>
                <a:latin typeface="Arial"/>
              </a:rPr>
              <a:t>github.com/CatolicaSC-Portfolio/The-Portfolio-Playbook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A88"/>
                </a:solidFill>
                <a:latin typeface="Arial"/>
              </a:rPr>
              <a:t>Contrato Pedagógico · Portfólio + PAC VIII · 2026/2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38251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A8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8A33D"/>
                </a:solidFill>
                <a:latin typeface="Arial"/>
              </a:rPr>
              <a:t>ACEITE DO CONTRATO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Combinado?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71800"/>
            <a:ext cx="1463040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10128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Ao seguir na disciplina, você assume os compromissos deste contrato — e pode cobrar os nossos.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8C6D4"/>
                </a:solidFill>
                <a:latin typeface="Arial"/>
              </a:rPr>
              <a:t>Dúvidas sobre qualquer ponto devem ser levantadas agora, não em dezembro.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5212080"/>
            <a:ext cx="10149840" cy="82296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413248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Entrega até 30/11/2026 (segunda-feira)   ·   Bancas em 10, 15 e 16/12/2026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