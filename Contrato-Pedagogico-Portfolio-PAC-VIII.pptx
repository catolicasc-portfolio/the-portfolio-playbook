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Deixar claro que este é um contrato de mão dupla: o que a disciplina exige e o que a disciplina garante. Ao final da apresentação, pedir o aceite formal.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Enfatizar: o contrato é o resumo executivo. A fonte da verdade é o repositório do Playbook. Se houver divergência, vale o repositório.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Reforçar continuidade: quem chega ao 8º semestre já tem RFC aprovada. O projeto não recomeça.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Ponto crítico: o aluno não deve tratar as duas disciplinas como trabalhos separados. É o mesmo projeto, avaliado por dois ângulos.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Ler item a item. Perguntar quem já tem repositório público hoje. O ambiente produtivo precisa continuar no ar até a divulgação final das notas.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basta funcionar: o código precisa ser profissional. Os três pilares são cobrados na avaliação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Squads de 3 a 5 alunos. A nota do peer review não é por quantidade de PRs, é pela pertinência dos comentários.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Alunos em modalidade comunidade (sem parceiro corporativo): combinar previamente qual evidência substitui o termo de aceite.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professores recebem antecipadamente a lista de trabalhos e os links de repositório e documentação.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Critério 5 é eliminatório, não é ponderado: plágio ou falsificação reprova direto.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claro que 3 é 'cumpriu o combinado', não é nota baixa — dá 6,0. 4 e 5 exigem ir além do obrigatório. Os 6 critérios têm peso igual entre si. Piso da fórmula é 2,0; abaixo disso só por reprovação direta (critério 5, eliminatório).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Professores de Joinville: reservar as três datas. Confirmar o horário de início antes de divulgar aos alunos.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Falar sem rodeios. Melhor constranger em agosto do que reprovar em dezembro. Explicar como a prova de autoria será conduzida.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coração do contrato. Ler os dois lados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Pedir que todos abram o repositório agora e favoritem.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para perguntas. Registrar em ata as dúvidas levantadas e as respostas dadas.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0"/>
            <a:ext cx="4507992" cy="6858000"/>
          </a:xfrm>
          <a:prstGeom prst="rect">
            <a:avLst/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0" y="1828800"/>
            <a:ext cx="320040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E8A33D"/>
                </a:solidFill>
                <a:latin typeface="Arial"/>
              </a:rPr>
              <a:t>CONTRATO PEDAGÓGICO · 8º SEMESTRE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6766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Disciplina de Portfólio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E8A33D"/>
                </a:solidFill>
                <a:latin typeface="Arial"/>
              </a:rPr>
              <a:t>+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PAC Extensionista VIII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463040" cy="508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61772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As regras do jogo, os compromissos de cada lado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e o calendário do semestre.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978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8C6D4"/>
                </a:solidFill>
                <a:latin typeface="Arial"/>
              </a:rPr>
              <a:t>Engenharia de Software · Católica SC · 2026/2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194560"/>
            <a:ext cx="3200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E8A33D"/>
                </a:solidFill>
                <a:latin typeface="Arial"/>
              </a:rPr>
              <a:t>Prazo de entrega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30/11/2026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200"/>
              </a:spcAft>
            </a:pPr>
            <a:r>
              <a:rPr sz="1300" b="0" i="0">
                <a:solidFill>
                  <a:srgbClr val="B8C6D4"/>
                </a:solidFill>
                <a:latin typeface="Arial"/>
              </a:rPr>
              <a:t>segunda-feira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E8A33D"/>
                </a:solidFill>
                <a:latin typeface="Arial"/>
              </a:rPr>
              <a:t>Bancas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10 · 15 · 16 /12/2026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8C6D4"/>
                </a:solidFill>
                <a:latin typeface="Arial"/>
              </a:rPr>
              <a:t>quinta · terça · quarta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7A8C"/>
                </a:solidFill>
                <a:latin typeface="Arial"/>
              </a:rPr>
              <a:t>PONTO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0243E"/>
                </a:solidFill>
                <a:latin typeface="Arial"/>
              </a:rPr>
              <a:t>O que é este contrato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8"/>
                </a:solidFill>
                <a:latin typeface="Arial"/>
              </a:rPr>
              <a:t>Um acordo explícito. Nada do que for cobrado aqui estará fora deste documento.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03120"/>
            <a:ext cx="3566160" cy="3200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3566160" cy="508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40864"/>
            <a:ext cx="3090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43E"/>
                </a:solidFill>
                <a:latin typeface="Arial"/>
              </a:rPr>
              <a:t>O que ele define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834640"/>
            <a:ext cx="3090672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O que você precisa entregar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Quando precisa entregar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Como você será avaliado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O que reprova direto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103120"/>
            <a:ext cx="3566160" cy="3200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2103120"/>
            <a:ext cx="3566160" cy="50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2340864"/>
            <a:ext cx="3090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43E"/>
                </a:solidFill>
                <a:latin typeface="Arial"/>
              </a:rPr>
              <a:t>O que ele garante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834640"/>
            <a:ext cx="3090672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Critérios conhecidos desde o dia 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Datas fixas e divulgadas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Orientação ao longo do semestre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Avaliação por 3 professores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2103120"/>
            <a:ext cx="3566160" cy="3200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2103120"/>
            <a:ext cx="3566160" cy="508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340864"/>
            <a:ext cx="3090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43E"/>
                </a:solidFill>
                <a:latin typeface="Arial"/>
              </a:rPr>
              <a:t>O que ele não 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834640"/>
            <a:ext cx="3090672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Não é lista de sugestões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Não é negociável no fim do semestre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Não substitui o Playbook — é o resumo dele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0243E"/>
                </a:solidFill>
                <a:latin typeface="Arial"/>
              </a:rPr>
              <a:t>Documentação completa: github.com/CatolicaSC-Portfolio/The-Portfolio-Playbook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7A8C"/>
                </a:solidFill>
                <a:latin typeface="Arial"/>
              </a:rPr>
              <a:t>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0243E"/>
                </a:solidFill>
                <a:latin typeface="Arial"/>
              </a:rPr>
              <a:t>A jornada do Portfólio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8"/>
                </a:solidFill>
                <a:latin typeface="Arial"/>
              </a:rPr>
              <a:t>Três disciplinas, dois semestres, um único projeto autoral.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423160"/>
            <a:ext cx="3529584" cy="2651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423160"/>
            <a:ext cx="3529584" cy="47548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560320"/>
            <a:ext cx="30723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7º SEMESTRE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136392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0243E"/>
                </a:solidFill>
                <a:latin typeface="Arial"/>
              </a:rPr>
              <a:t>PAC Extensionista VII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721608"/>
            <a:ext cx="30723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Planejamento técnico do projeto (RFC), aplicado a um problema real de parceiro externo ou comunidade.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474720"/>
            <a:ext cx="310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A33D"/>
                </a:solidFill>
                <a:latin typeface="Arial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2423160"/>
            <a:ext cx="3529584" cy="2651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7408" y="2423160"/>
            <a:ext cx="3529584" cy="475488"/>
          </a:xfrm>
          <a:prstGeom prst="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560320"/>
            <a:ext cx="30723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8º SEMESTRE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3136392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0243E"/>
                </a:solidFill>
                <a:latin typeface="Arial"/>
              </a:rPr>
              <a:t>Disciplina de Portfólio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3721608"/>
            <a:ext cx="30723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Desenvolvimento, documentação e apresentação pública do produto funcional.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3474720"/>
            <a:ext cx="310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A33D"/>
                </a:solidFill>
                <a:latin typeface="Arial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47888" y="2423160"/>
            <a:ext cx="3529584" cy="2651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47888" y="2423160"/>
            <a:ext cx="3529584" cy="47548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85632" y="2560320"/>
            <a:ext cx="30723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8º SEMESTRE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3136392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0243E"/>
                </a:solidFill>
                <a:latin typeface="Arial"/>
              </a:rPr>
              <a:t>PAC Extensionista VIII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3721608"/>
            <a:ext cx="30723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Garantia de qualidade por pares e validação extensionista junto ao parceiro.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303520"/>
            <a:ext cx="11064240" cy="658368"/>
          </a:xfrm>
          <a:prstGeom prst="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4589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O projeto é individual. A qualidade é coletiva — squads de 3 a 5 alunos revisam o código uns dos outros.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7A8C"/>
                </a:solidFill>
                <a:latin typeface="Arial"/>
              </a:rPr>
              <a:t>COMO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0243E"/>
                </a:solidFill>
                <a:latin typeface="Arial"/>
              </a:rPr>
              <a:t>Duas disciplinas, um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8"/>
                </a:solidFill>
                <a:latin typeface="Arial"/>
              </a:rPr>
              <a:t>Portfólio e PAC VIII rodam em sincronia. Cada uma olha para uma dimensão do mesmo trabalho.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11064240" cy="3255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28016" marR="128016" marT="45720" marB="45720" anchor="ctr">
                    <a:solidFill>
                      <a:srgbClr val="1024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Disciplina de Portfólio</a:t>
                      </a:r>
                    </a:p>
                  </a:txBody>
                  <a:tcPr marL="128016" marR="128016" marT="45720" marB="45720" anchor="ctr">
                    <a:solidFill>
                      <a:srgbClr val="1024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PAC Extensionista VIII</a:t>
                      </a:r>
                    </a:p>
                  </a:txBody>
                  <a:tcPr marL="128016" marR="128016" marT="45720" marB="45720" anchor="ctr">
                    <a:solidFill>
                      <a:srgbClr val="10243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Foco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Execução e engenharia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Qualidade e validação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Você faz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Desenvolve, documenta, publica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Revisa código dos colegas, valida com o parceiro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Entrega principal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Produto funcional em produção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Evidências de revisão + termo de aceite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Avaliação final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Poster + Demo Day (0 a 10)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NP1 20% · NP2 20% · NP3 60%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Insumo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Consome bugs e feedback vindos do PAC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Consome MVPs vindos do Portfólio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7A8C"/>
                </a:solidFill>
                <a:latin typeface="Arial"/>
              </a:rPr>
              <a:t>PORTFÓLIO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0243E"/>
                </a:solidFill>
                <a:latin typeface="Arial"/>
              </a:rPr>
              <a:t>Requisitos para se habilitar à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8"/>
                </a:solidFill>
                <a:latin typeface="Arial"/>
              </a:rPr>
              <a:t>Sem estes itens o projeto não entra no Poster + Demo Day. Não há exceção.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6928" y="2258568"/>
            <a:ext cx="100584" cy="100584"/>
          </a:xfrm>
          <a:prstGeom prst="ellipse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17627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Quatro orientações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6B7A88"/>
                </a:solidFill>
                <a:latin typeface="Arial"/>
              </a:rPr>
              <a:t>Presenciais ou remotas, com evidência do aluno (ata por e-mail, foto, registro).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919984"/>
            <a:ext cx="100584" cy="100584"/>
          </a:xfrm>
          <a:prstGeom prst="ellipse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83768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Repositório público no GitHub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6B7A88"/>
                </a:solidFill>
                <a:latin typeface="Arial"/>
              </a:rPr>
              <a:t>Com histórico de commits que mostre evolução real ao longo do semestre.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3581400"/>
            <a:ext cx="100584" cy="100584"/>
          </a:xfrm>
          <a:prstGeom prst="ellipse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499104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Aplicação em ambiente produtivo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6B7A88"/>
                </a:solidFill>
                <a:latin typeface="Arial"/>
              </a:rPr>
              <a:t>Hospedada na nuvem, pública e estável — não pode depender do seu notebook.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4242816"/>
            <a:ext cx="100584" cy="100584"/>
          </a:xfrm>
          <a:prstGeom prst="ellipse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1605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Pôster digital em PDF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6B7A88"/>
                </a:solidFill>
                <a:latin typeface="Arial"/>
              </a:rPr>
              <a:t>Formato A0 vertical, com QR Code funcional de acesso à aplicação.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904232"/>
            <a:ext cx="100584" cy="100584"/>
          </a:xfrm>
          <a:prstGeom prst="ellipse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8219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Documentação técnica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6B7A88"/>
                </a:solidFill>
                <a:latin typeface="Arial"/>
              </a:rPr>
              <a:t>Arquitetura, requisitos e registro das decisões técnicas.</a:t>
            </a:r>
          </a:p>
        </p:txBody>
      </p:sp>
      <p:sp>
        <p:nvSpPr>
          <p:cNvPr id="18" name="Oval 17"/>
          <p:cNvSpPr/>
          <p:nvPr/>
        </p:nvSpPr>
        <p:spPr>
          <a:xfrm>
            <a:off x="566928" y="5565648"/>
            <a:ext cx="100584" cy="100584"/>
          </a:xfrm>
          <a:prstGeom prst="ellipse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48335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Critérios obrigatórios da sua linha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6B7A88"/>
                </a:solidFill>
                <a:latin typeface="Arial"/>
              </a:rPr>
              <a:t>Web, Mobile, Jogos, IA ou IoT — conforme o Portfolio Directions.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7A8C"/>
                </a:solidFill>
                <a:latin typeface="Arial"/>
              </a:rPr>
              <a:t>PORTFÓLIO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0243E"/>
                </a:solidFill>
                <a:latin typeface="Arial"/>
              </a:rPr>
              <a:t>Os três pilares da disciplina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19072"/>
            <a:ext cx="3529584" cy="35661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19072"/>
            <a:ext cx="3529584" cy="508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956816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0243E"/>
                </a:solidFill>
                <a:latin typeface="Arial"/>
              </a:rPr>
              <a:t>1 · Execução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450592"/>
            <a:ext cx="3054096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Implementar a arquitetura definida na RFC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Commits frequentes, revisados por pares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Entregas modulares (MVPs) que alimentam o PAC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Documentação que permita contribuição externa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7408" y="1719072"/>
            <a:ext cx="3529584" cy="35661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719072"/>
            <a:ext cx="3529584" cy="50800"/>
          </a:xfrm>
          <a:prstGeom prst="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956816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0243E"/>
                </a:solidFill>
                <a:latin typeface="Arial"/>
              </a:rPr>
              <a:t>2 · Engenharia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450592"/>
            <a:ext cx="3054096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SOLID, Design Patterns, Clean Architecture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Refatorar a partir dos code reviews recebidos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Corrigir bugs reportados pelos colegas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Atender melhorias pedidas pelo parceiro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47888" y="1719072"/>
            <a:ext cx="3529584" cy="35661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47888" y="1719072"/>
            <a:ext cx="3529584" cy="508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1956816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0243E"/>
                </a:solidFill>
                <a:latin typeface="Arial"/>
              </a:rPr>
              <a:t>3 · DevOps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2450592"/>
            <a:ext cx="3054096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Pipeline de CI/CD configurado e funcionando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Ambientes separados: desenvolvimento e produção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Deploy acessível — nuvem, loja ou dispositivo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Estratégia de observabilidade definida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7A8C"/>
                </a:solidFill>
                <a:latin typeface="Arial"/>
              </a:rPr>
              <a:t>PAC EXTENSIONISTA VIII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0243E"/>
                </a:solidFill>
                <a:latin typeface="Arial"/>
              </a:rPr>
              <a:t>Qualidade por pares e validação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8"/>
                </a:solidFill>
                <a:latin typeface="Arial"/>
              </a:rPr>
              <a:t>O que você entrega aqui não é código — é evidência de que o código foi checado e o produto foi validado.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21408"/>
            <a:ext cx="3529584" cy="33832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21408"/>
            <a:ext cx="3529584" cy="508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59152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43E"/>
                </a:solidFill>
                <a:latin typeface="Arial"/>
              </a:rPr>
              <a:t>Integração com o Portfólio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852928"/>
            <a:ext cx="305409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Planejamento das sprints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Documentação dos testes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Gestão do ciclo de vida do projeto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2121408"/>
            <a:ext cx="3529584" cy="33832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2121408"/>
            <a:ext cx="3529584" cy="50800"/>
          </a:xfrm>
          <a:prstGeom prst="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2359152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43E"/>
                </a:solidFill>
                <a:latin typeface="Arial"/>
              </a:rPr>
              <a:t>Validação por pares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852928"/>
            <a:ext cx="305409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Code review obrigatório via Pull Request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Testes cruzados: você é QA do colega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Nota vem da qualidade dos comentários e das issues abertas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2121408"/>
            <a:ext cx="3529584" cy="33832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2121408"/>
            <a:ext cx="3529584" cy="508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5632" y="2359152"/>
            <a:ext cx="3054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43E"/>
                </a:solidFill>
                <a:latin typeface="Arial"/>
              </a:rPr>
              <a:t>Validação extensionista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852928"/>
            <a:ext cx="305409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Demos das funcionalidades para o parceiro real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Registro formal do feedback recebido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•  Feedback vira task de desenvolvimento no Portfólio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7A8C"/>
                </a:solidFill>
                <a:latin typeface="Arial"/>
              </a:rPr>
              <a:t>PAC EXTENSIONISTA VIII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0243E"/>
                </a:solidFill>
                <a:latin typeface="Arial"/>
              </a:rPr>
              <a:t>Como você é avaliado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92224"/>
          <a:ext cx="11064240" cy="2752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3474720"/>
                <a:gridCol w="34747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Etapa</a:t>
                      </a:r>
                    </a:p>
                  </a:txBody>
                  <a:tcPr marL="128016" marR="128016" marT="45720" marB="45720" anchor="ctr">
                    <a:solidFill>
                      <a:srgbClr val="1024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Peso</a:t>
                      </a:r>
                    </a:p>
                  </a:txBody>
                  <a:tcPr marL="128016" marR="128016" marT="45720" marB="45720" anchor="ctr">
                    <a:solidFill>
                      <a:srgbClr val="1024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Pares</a:t>
                      </a:r>
                    </a:p>
                  </a:txBody>
                  <a:tcPr marL="128016" marR="128016" marT="45720" marB="45720" anchor="ctr">
                    <a:solidFill>
                      <a:srgbClr val="1024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Extensão</a:t>
                      </a:r>
                    </a:p>
                  </a:txBody>
                  <a:tcPr marL="128016" marR="128016" marT="45720" marB="45720" anchor="ctr">
                    <a:solidFill>
                      <a:srgbClr val="10243E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NP1 — Ciclo de qualidade inicial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Evidências de code review e testes cruzados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Relatório de validação do 1º MVP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NP2 — Evolução e refinamento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Bugs reportados pelos colegas foram corrigidos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Demonstração das melhorias ao parceiro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NP3 — Entrega final integrada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Software funcional em versão release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Termo de aceite + apresentação no Demo Day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4809744"/>
            <a:ext cx="11064240" cy="71323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809744"/>
            <a:ext cx="50800" cy="71323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9743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0243E"/>
                </a:solidFill>
                <a:latin typeface="Arial"/>
              </a:rPr>
              <a:t>Entregáveis do semestre:  links de PRs e issues  ·  relatórios de feedback do parceiro  ·  termo de aceite final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7A8C"/>
                </a:solidFill>
                <a:latin typeface="Arial"/>
              </a:rPr>
              <a:t>PORTFÓLIO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0243E"/>
                </a:solidFill>
                <a:latin typeface="Arial"/>
              </a:rPr>
              <a:t>Como a nota final é composta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8"/>
                </a:solidFill>
                <a:latin typeface="Arial"/>
              </a:rPr>
              <a:t>Poster + Demo Day. Quatro notas, uma média ponderada.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40280"/>
            <a:ext cx="5394960" cy="2286000"/>
          </a:xfrm>
          <a:prstGeom prst="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7548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E8A33D"/>
                </a:solidFill>
                <a:latin typeface="Arial"/>
              </a:rPr>
              <a:t>90%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Três professores avaliadores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5D0DA"/>
                </a:solidFill>
                <a:latin typeface="Arial"/>
              </a:rPr>
              <a:t>Formulário com escala Likert por critério, mais comentários qualitativos.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6208" y="2240280"/>
            <a:ext cx="5394960" cy="22860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514600"/>
            <a:ext cx="47548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10%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Comunidade acadêmica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DFEEF1"/>
                </a:solidFill>
                <a:latin typeface="Arial"/>
              </a:rPr>
              <a:t>Média de todas as notas atribuídas pelo público durante o Demo Day.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06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10243E"/>
                </a:solidFill>
                <a:latin typeface="Arial"/>
              </a:rPr>
              <a:t>Nota final: 0 a 10, média ponderada das quatro notas.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A comunidade acadêmica ainda pode atribuir menções especiais — por exemplo, “Trabalho Escolhido pela Comunidade”. Projetos de destaque em inovação, qualidade técnica e impacto são convidados para a Banca Técnica Especial.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7A8C"/>
                </a:solidFill>
                <a:latin typeface="Arial"/>
              </a:rPr>
              <a:t>POSTER + DEMO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0243E"/>
                </a:solidFill>
                <a:latin typeface="Arial"/>
              </a:rPr>
              <a:t>Os seis critérios de avaliação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8"/>
                </a:solidFill>
                <a:latin typeface="Arial"/>
              </a:rPr>
              <a:t>Cada critério é pontuado em escala Likert de 1 a 5 pelos três professores.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5394960" cy="10058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76272"/>
            <a:ext cx="50800" cy="10058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3172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10243E"/>
                </a:solidFill>
                <a:latin typeface="Arial"/>
              </a:rPr>
              <a:t>1 · Relevância e complexidade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Problema real, escopo claro, originalidade — nada de reproduzir tutorial.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176272"/>
            <a:ext cx="5394960" cy="10058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6208" y="2176272"/>
            <a:ext cx="50800" cy="10058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33172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10243E"/>
                </a:solidFill>
                <a:latin typeface="Arial"/>
              </a:rPr>
              <a:t>2 · Documentação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Repositório completo, decisões técnicas registradas, material legível.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346704"/>
            <a:ext cx="5394960" cy="10058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346704"/>
            <a:ext cx="50800" cy="10058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502152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10243E"/>
                </a:solidFill>
                <a:latin typeface="Arial"/>
              </a:rPr>
              <a:t>3 · Qualidade técnica do código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Modularização, boas práticas, testes automatizados, histórico de commits.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6208" y="3346704"/>
            <a:ext cx="5394960" cy="10058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6208" y="3346704"/>
            <a:ext cx="50800" cy="10058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3502152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10243E"/>
                </a:solidFill>
                <a:latin typeface="Arial"/>
              </a:rPr>
              <a:t>4 · Infraestrutura e engenharia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Versionamento, CI/CD, monitoramento, segurança, práticas DevOps.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517136"/>
            <a:ext cx="5394960" cy="10058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517136"/>
            <a:ext cx="50800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672584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10243E"/>
                </a:solidFill>
                <a:latin typeface="Arial"/>
              </a:rPr>
              <a:t>5 · Ética, integridade e autoria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Autoria genuína e uso ético de dados. Violação aqui é reprovação imediata.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8" y="4517136"/>
            <a:ext cx="5394960" cy="10058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4517136"/>
            <a:ext cx="50800" cy="10058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4672584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10243E"/>
                </a:solidFill>
                <a:latin typeface="Arial"/>
              </a:rPr>
              <a:t>6 · Apresentação no evento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Clareza da narrativa, demo funcional, domínio técnico, pôster autoexplicativo.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7A8C"/>
                </a:solidFill>
                <a:latin typeface="Arial"/>
              </a:rPr>
              <a:t>POSTER + DEMO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0243E"/>
                </a:solidFill>
                <a:latin typeface="Arial"/>
              </a:rPr>
              <a:t>A escala de avaliação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8"/>
                </a:solidFill>
                <a:latin typeface="Arial"/>
              </a:rPr>
              <a:t>Referência usada pelos professores em cada um dos seis critérios.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377440"/>
                <a:gridCol w="75895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Nível</a:t>
                      </a:r>
                    </a:p>
                  </a:txBody>
                  <a:tcPr marL="128016" marR="128016" marT="45720" marB="45720" anchor="ctr">
                    <a:solidFill>
                      <a:srgbClr val="1024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Rótulo</a:t>
                      </a:r>
                    </a:p>
                  </a:txBody>
                  <a:tcPr marL="128016" marR="128016" marT="45720" marB="45720" anchor="ctr">
                    <a:solidFill>
                      <a:srgbClr val="1024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 que significa na prática</a:t>
                      </a:r>
                    </a:p>
                  </a:txBody>
                  <a:tcPr marL="128016" marR="128016" marT="45720" marB="45720" anchor="ctr">
                    <a:solidFill>
                      <a:srgbClr val="10243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Insuficiente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Não atende aos critérios mínimos; falhas conceituais ou técnicas.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Básico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Atende parcialmente; lacunas significativas na execução ou fundamentação.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Adequado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Cumpre o esperado de forma satisfatória, com coerência e funcionalidade.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Avançado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Supera expectativas em alguns aspectos; domínio técnico e clareza conceitual.</a:t>
                      </a:r>
                    </a:p>
                  </a:txBody>
                  <a:tcPr marL="128016" marR="128016" marT="45720" marB="45720" anchor="ctr">
                    <a:solidFill>
                      <a:srgbClr val="F4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Excelência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Maturidade técnica e conceitual, originalidade, teoria e prática integradas.</a:t>
                      </a:r>
                    </a:p>
                  </a:txBody>
                  <a:tcPr marL="128016" marR="128016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5413248"/>
            <a:ext cx="11064240" cy="932688"/>
          </a:xfrm>
          <a:prstGeom prst="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59552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E8A33D"/>
                </a:solidFill>
                <a:latin typeface="Arial"/>
              </a:rPr>
              <a:t>COMO A LIKERT VIRA NOTA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Nota de cada professor = média dos 6 critérios × 2      ·      Nota final = (professores × 0,9) + (comunidade × 0,1)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C5D0DA"/>
                </a:solidFill>
                <a:latin typeface="Arial"/>
              </a:rPr>
              <a:t>Exemplo: critérios 4, 3, 4, 3, 5, 4  →  média 3,83  →  nota 7,7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8A33D"/>
                </a:solidFill>
                <a:latin typeface="Arial"/>
              </a:rPr>
              <a:t>CALENDÁRIO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As datas que não mudam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5029200" cy="3566160"/>
          </a:xfrm>
          <a:prstGeom prst="rect">
            <a:avLst/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5029200" cy="635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57984"/>
            <a:ext cx="4389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E8A33D"/>
                </a:solidFill>
                <a:latin typeface="Arial"/>
              </a:rPr>
              <a:t>PRAZO FINAL DE ENTREGA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30/11/2026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0" i="0">
                <a:solidFill>
                  <a:srgbClr val="C5D0DA"/>
                </a:solidFill>
                <a:latin typeface="Arial"/>
              </a:rPr>
              <a:t>segunda-feira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Até esta data o trabalho deve estar entregue e ter sido aprovado na prova de autoria.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0448" y="1792224"/>
            <a:ext cx="5760720" cy="3566160"/>
          </a:xfrm>
          <a:prstGeom prst="rect">
            <a:avLst/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70448" y="1792224"/>
            <a:ext cx="5760720" cy="635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15798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A33D"/>
                </a:solidFill>
                <a:latin typeface="Arial"/>
              </a:rPr>
              <a:t>BANCAS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633472"/>
            <a:ext cx="82296" cy="457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6517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10/12/2026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C5D0DA"/>
                </a:solidFill>
                <a:latin typeface="Arial"/>
              </a:rPr>
              <a:t>quinta-feira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291840"/>
            <a:ext cx="82296" cy="457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3101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15/12/2026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C5D0DA"/>
                </a:solidFill>
                <a:latin typeface="Arial"/>
              </a:rPr>
              <a:t>terça-feira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950208"/>
            <a:ext cx="82296" cy="457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968496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16/12/2026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C5D0DA"/>
                </a:solidFill>
                <a:latin typeface="Arial"/>
              </a:rPr>
              <a:t>quarta-feira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66344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5D0DA"/>
                </a:solidFill>
                <a:latin typeface="Arial"/>
              </a:rPr>
              <a:t>O evento abre 30 minutos antes do horário de início, para que os professores possam conversar com os alunos com tranquilidade.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522976"/>
            <a:ext cx="11064240" cy="566928"/>
          </a:xfrm>
          <a:prstGeom prst="rect">
            <a:avLst/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660135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Haverá registro de presença dos alunos que participarem das bancas — essas horas contam como aula regular.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7A8C"/>
                </a:solidFill>
                <a:latin typeface="Arial"/>
              </a:rPr>
              <a:t>LINHA VERMELHA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0243E"/>
                </a:solidFill>
                <a:latin typeface="Arial"/>
              </a:rPr>
              <a:t>O que reprova direto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8"/>
                </a:solidFill>
                <a:latin typeface="Arial"/>
              </a:rPr>
              <a:t>Estes itens não entram na média. Ocorreu, reprovou.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40280"/>
            <a:ext cx="5394960" cy="62179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63500" cy="6217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414016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Plágio de código, design ou texto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026664"/>
            <a:ext cx="5394960" cy="62179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026664"/>
            <a:ext cx="63500" cy="6217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00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Falsificação de resultados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813048"/>
            <a:ext cx="5394960" cy="62179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813048"/>
            <a:ext cx="63500" cy="6217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986784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Uso indevido de dados sensíveis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599432"/>
            <a:ext cx="5394960" cy="62179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599432"/>
            <a:ext cx="63500" cy="6217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77316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Projeto inacessível — link quebrado ou fora do 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2240280"/>
            <a:ext cx="5394960" cy="62179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6208" y="2240280"/>
            <a:ext cx="63500" cy="6217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2414016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Interface inoperante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8" y="3026664"/>
            <a:ext cx="5394960" cy="62179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3026664"/>
            <a:ext cx="63500" cy="6217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3200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Violação de segurança básica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3813048"/>
            <a:ext cx="5394960" cy="62179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36208" y="3813048"/>
            <a:ext cx="63500" cy="6217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Ausência da documentação mínima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4599432"/>
            <a:ext cx="5394960" cy="62179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6208" y="4599432"/>
            <a:ext cx="63500" cy="6217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477316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Plataformas no-code no lugar de desenvolvimento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486400"/>
            <a:ext cx="11064240" cy="6217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418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Autoria é condição de existência do trabalho, não critério de nota. A prova de autoria é obrigatória.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7A8C"/>
                </a:solidFill>
                <a:latin typeface="Arial"/>
              </a:rPr>
              <a:t>O ACORDO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0243E"/>
                </a:solidFill>
                <a:latin typeface="Arial"/>
              </a:rPr>
              <a:t>Compromissos de cada lado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46504"/>
            <a:ext cx="5394960" cy="3657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46504"/>
            <a:ext cx="5394960" cy="566928"/>
          </a:xfrm>
          <a:prstGeom prst="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928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Você se compromete a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624328"/>
            <a:ext cx="100584" cy="100584"/>
          </a:xfrm>
          <a:prstGeom prst="ellipse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54203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Commitar com frequência, no seu repositório público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042412"/>
            <a:ext cx="100584" cy="100584"/>
          </a:xfrm>
          <a:prstGeom prst="ellipse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96011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Participar das quatro orientações e evidenciá-las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3460496"/>
            <a:ext cx="100584" cy="100584"/>
          </a:xfrm>
          <a:prstGeom prst="ellipse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378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Revisar o código dos colegas do seu squad com seriedade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878580"/>
            <a:ext cx="100584" cy="100584"/>
          </a:xfrm>
          <a:prstGeom prst="ellipse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79628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Manter a aplicação no ar até a divulgação das notas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4296664"/>
            <a:ext cx="100584" cy="100584"/>
          </a:xfrm>
          <a:prstGeom prst="ellipse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2143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Buscar e registrar o feedback do parceiro externo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4714748"/>
            <a:ext cx="100584" cy="100584"/>
          </a:xfrm>
          <a:prstGeom prst="ellipse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63245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Entregar até 30/11/2026 e passar na prova de autoria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1746504"/>
            <a:ext cx="5394960" cy="3657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46504"/>
            <a:ext cx="5394960" cy="56692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8928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disciplina se compromete a</a:t>
            </a:r>
          </a:p>
        </p:txBody>
      </p:sp>
      <p:sp>
        <p:nvSpPr>
          <p:cNvPr id="25" name="Oval 24"/>
          <p:cNvSpPr/>
          <p:nvPr/>
        </p:nvSpPr>
        <p:spPr>
          <a:xfrm>
            <a:off x="6537960" y="2624328"/>
            <a:ext cx="100584" cy="100584"/>
          </a:xfrm>
          <a:prstGeom prst="ellipse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54203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Manter critérios públicos e estáveis durante o semestre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3042412"/>
            <a:ext cx="100584" cy="100584"/>
          </a:xfrm>
          <a:prstGeom prst="ellipse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96011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Oferecer as quatro orientações e responder em tempo hábil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60496"/>
            <a:ext cx="100584" cy="100584"/>
          </a:xfrm>
          <a:prstGeom prst="ellipse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378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Divulgar datas com antecedência e não alterá-las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878580"/>
            <a:ext cx="100584" cy="100584"/>
          </a:xfrm>
          <a:prstGeom prst="ellipse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79628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Garantir avaliação por três professores, com feedback escrito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4296664"/>
            <a:ext cx="100584" cy="100584"/>
          </a:xfrm>
          <a:prstGeom prst="ellipse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42143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Registrar presença nas bancas como aula regular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4714748"/>
            <a:ext cx="100584" cy="100584"/>
          </a:xfrm>
          <a:prstGeom prst="ellipse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63245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Dar visibilidade pública aos melhores trabalhos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0233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7A8C"/>
                </a:solidFill>
                <a:latin typeface="Arial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0243E"/>
                </a:solidFill>
                <a:latin typeface="Arial"/>
              </a:rPr>
              <a:t>Onde está tudo documentado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8"/>
                </a:solidFill>
                <a:latin typeface="Arial"/>
              </a:rPr>
              <a:t>Tudo o que foi apresentado aqui está detalhado no repositório do Playbook.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0058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94560"/>
            <a:ext cx="5394960" cy="95097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94560"/>
            <a:ext cx="50800" cy="9509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22576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0243E"/>
                </a:solidFill>
                <a:latin typeface="Arial"/>
              </a:rPr>
              <a:t>Disciplina de Portfólio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7A8C"/>
                </a:solidFill>
                <a:latin typeface="Arial"/>
              </a:rPr>
              <a:t>Portfolio.md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6B7A88"/>
                </a:solidFill>
                <a:latin typeface="Arial"/>
              </a:rPr>
              <a:t>Requisitos, pilares, avaliação e calendário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194560"/>
            <a:ext cx="5394960" cy="95097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6208" y="2194560"/>
            <a:ext cx="50800" cy="9509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322576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0243E"/>
                </a:solidFill>
                <a:latin typeface="Arial"/>
              </a:rPr>
              <a:t>PAC Extensionista VIII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7A8C"/>
                </a:solidFill>
                <a:latin typeface="Arial"/>
              </a:rPr>
              <a:t>PAC Extensionista VIII.md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6B7A88"/>
                </a:solidFill>
                <a:latin typeface="Arial"/>
              </a:rPr>
              <a:t>Peer review, validação extensionista e NPs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310128"/>
            <a:ext cx="5394960" cy="95097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310128"/>
            <a:ext cx="50800" cy="9509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38144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0243E"/>
                </a:solidFill>
                <a:latin typeface="Arial"/>
              </a:rPr>
              <a:t>Portfolio Directions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7A8C"/>
                </a:solidFill>
                <a:latin typeface="Arial"/>
              </a:rPr>
              <a:t>directions/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6B7A88"/>
                </a:solidFill>
                <a:latin typeface="Arial"/>
              </a:rPr>
              <a:t>Critérios obrigatórios de cada linha de projeto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6208" y="3310128"/>
            <a:ext cx="5394960" cy="95097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6208" y="3310128"/>
            <a:ext cx="50800" cy="9509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438144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0243E"/>
                </a:solidFill>
                <a:latin typeface="Arial"/>
              </a:rPr>
              <a:t>Avaliação do Demo Day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7A8C"/>
                </a:solidFill>
                <a:latin typeface="Arial"/>
              </a:rPr>
              <a:t>demoday/Avaliacao_Poster_DemoDay.md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6B7A88"/>
                </a:solidFill>
                <a:latin typeface="Arial"/>
              </a:rPr>
              <a:t>Os seis critérios e a escala Likert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425696"/>
            <a:ext cx="5394960" cy="95097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425696"/>
            <a:ext cx="50800" cy="9509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553712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0243E"/>
                </a:solidFill>
                <a:latin typeface="Arial"/>
              </a:rPr>
              <a:t>Guia do Pôster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7A8C"/>
                </a:solidFill>
                <a:latin typeface="Arial"/>
              </a:rPr>
              <a:t>demoday/guia_poster.md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6B7A88"/>
                </a:solidFill>
                <a:latin typeface="Arial"/>
              </a:rPr>
              <a:t>Formato A0, elementos obrigatórios e template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8" y="4425696"/>
            <a:ext cx="5394960" cy="95097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4425696"/>
            <a:ext cx="50800" cy="9509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553712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0243E"/>
                </a:solidFill>
                <a:latin typeface="Arial"/>
              </a:rPr>
              <a:t>Normas e regulamentações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7A8C"/>
                </a:solidFill>
                <a:latin typeface="Arial"/>
              </a:rPr>
              <a:t>documentation/normas.md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6B7A88"/>
                </a:solidFill>
                <a:latin typeface="Arial"/>
              </a:rPr>
              <a:t>LGPD, licenças, segurança e ética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6235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0243E"/>
                </a:solidFill>
                <a:latin typeface="Arial"/>
              </a:rPr>
              <a:t>github.com/CatolicaSC-Portfolio/The-Portfolio-Playbook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8"/>
                </a:solidFill>
                <a:latin typeface="Arial"/>
              </a:rPr>
              <a:t>Contrato Pedagógico · Portfólio + PAC VIII · 2026/2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38251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A8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E8A33D"/>
                </a:solidFill>
                <a:latin typeface="Arial"/>
              </a:rPr>
              <a:t>ACEITE DO CONTRATO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74519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Combinado?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971800"/>
            <a:ext cx="1463040" cy="508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310128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Ao seguir na disciplina, você assume os compromissos deste contrato — e pode cobrar os nossos.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B8C6D4"/>
                </a:solidFill>
                <a:latin typeface="Arial"/>
              </a:rPr>
              <a:t>Dúvidas sobre qualquer ponto devem ser levantadas agora, não em dezembro.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5212080"/>
            <a:ext cx="10149840" cy="822960"/>
          </a:xfrm>
          <a:prstGeom prst="rect">
            <a:avLst/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413248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Entrega até 30/11/2026 (segunda-feira)   ·   Bancas em 10, 15 e 16/12/2026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